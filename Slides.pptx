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Average" panose="020B0604020202020204" charset="0"/>
      <p:regular r:id="rId24"/>
    </p:embeddedFont>
    <p:embeddedFont>
      <p:font typeface="Merriweather" panose="00000500000000000000" pitchFamily="2" charset="0"/>
      <p:regular r:id="rId25"/>
      <p:bold r:id="rId26"/>
      <p:italic r:id="rId27"/>
      <p:boldItalic r:id="rId28"/>
    </p:embeddedFont>
    <p:embeddedFont>
      <p:font typeface="Oswald" panose="00000500000000000000" pitchFamily="2" charset="0"/>
      <p:regular r:id="rId29"/>
      <p:bold r:id="rId30"/>
    </p:embeddedFont>
    <p:embeddedFont>
      <p:font typeface="Poppins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tara Mor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4391" autoAdjust="0"/>
  </p:normalViewPr>
  <p:slideViewPr>
    <p:cSldViewPr snapToGrid="0">
      <p:cViewPr varScale="1">
        <p:scale>
          <a:sx n="83" d="100"/>
          <a:sy n="83" d="100"/>
        </p:scale>
        <p:origin x="1368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4-12-03T18:51:42.776" idx="1">
    <p:pos x="211" y="39"/>
    <p:text>check this, this does start from 2004 right?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9ad9e05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9ad9e05a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9ad9e05a9_1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9ad9e05a9_1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 originates from Maharashtra, a state in India whose capital is Mumbai.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9ad9e05a9_1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9ad9e05a9_1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9ad9e05a9_1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9ad9e05a9_1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19ad9e05a9_1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19ad9e05a9_1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9e517962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9e517962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a5b35a3c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1a5b35a3c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b17aae1d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b17aae1d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19ad9e05a9_1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19ad9e05a9_1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17aae1d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b17aae1d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1b17aae1d7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1b17aae1d7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b17aae1d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b17aae1d7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b17aae1d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b17aae1d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9ad9e05a9_1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9ad9e05a9_1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b17aae1d7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b17aae1d7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b17aae1d7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b17aae1d7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1b17aae1d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1b17aae1d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9ad9e05a9_1_3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9ad9e05a9_1_3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9ad9e05a9_1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9ad9e05a9_1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b17aae1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1b17aae1d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at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ranaair.com/in/blog/10-ways-to-reduce-air-pollution/" TargetMode="External"/><Relationship Id="rId3" Type="http://schemas.openxmlformats.org/officeDocument/2006/relationships/image" Target="../media/image20.png"/><Relationship Id="rId7" Type="http://schemas.openxmlformats.org/officeDocument/2006/relationships/hyperlink" Target="https://www.mpcb.gov.in/sites/default/files/miscellaneous-topics/environmental-planning/CHAPTER5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itizenmatters.in/maharashtra-elections-cities-mumbai-pune-mobility-public-transport/#:~:text=The%20public%20transport%20deficit,coverage%2C%20or%20lower%20population%20density" TargetMode="External"/><Relationship Id="rId5" Type="http://schemas.openxmlformats.org/officeDocument/2006/relationships/hyperlink" Target="https://www.statista.com/statistics/831009/total-number-of-commercial-vehicles-in-maharashtra-india/#:~:text=Services-,About%20Statista,within%20the%20segment%20that%20year." TargetMode="External"/><Relationship Id="rId4" Type="http://schemas.openxmlformats.org/officeDocument/2006/relationships/hyperlink" Target="https://www.hindustantimes.com/cities/mumbai-news/more-than-25-lakh-vehicles-registered-in-maharashtra-in-2023-7-91-pc-rise-in-one-year-101704113134907.html" TargetMode="External"/><Relationship Id="rId9" Type="http://schemas.openxmlformats.org/officeDocument/2006/relationships/hyperlink" Target="https://www.edf.org/setting-record-straight-electric-vehicles#:~:text=EVs%20greatly%20reduce%20this%20health,million%20tons%20cumulatively%20by%20205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3">
            <a:alphaModFix amt="96000"/>
          </a:blip>
          <a:stretch>
            <a:fillRect/>
          </a:stretch>
        </p:blipFill>
        <p:spPr>
          <a:xfrm>
            <a:off x="0" y="1011550"/>
            <a:ext cx="9143999" cy="41319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>
            <a:spLocks noGrp="1"/>
          </p:cNvSpPr>
          <p:nvPr>
            <p:ph type="ctrTitle"/>
          </p:nvPr>
        </p:nvSpPr>
        <p:spPr>
          <a:xfrm>
            <a:off x="412650" y="1185800"/>
            <a:ext cx="8551500" cy="6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u="sng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latin typeface="Merriweather"/>
                <a:ea typeface="Merriweather"/>
                <a:cs typeface="Merriweather"/>
                <a:sym typeface="Merriweather"/>
              </a:rPr>
              <a:t>Vehicle Trends and Infrastructure Planning</a:t>
            </a:r>
            <a:endParaRPr sz="3000"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"/>
          </p:nvPr>
        </p:nvSpPr>
        <p:spPr>
          <a:xfrm>
            <a:off x="491950" y="1963050"/>
            <a:ext cx="8258400" cy="17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50" b="1" dirty="0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Research Question: </a:t>
            </a:r>
            <a:br>
              <a:rPr lang="en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n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85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vehicle population trends inform sustainable growth opportunities in private and commercial markets while addressing pollution impacts, and guide policies and strategies to reduce emissions and meet future demands?</a:t>
            </a:r>
            <a:endParaRPr sz="285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2" name="Google Shape;62;p13"/>
          <p:cNvSpPr txBox="1"/>
          <p:nvPr/>
        </p:nvSpPr>
        <p:spPr>
          <a:xfrm>
            <a:off x="1054650" y="3984100"/>
            <a:ext cx="70347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 dirty="0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By: Vaibhav Magoo </a:t>
            </a:r>
            <a:endParaRPr sz="1800" i="1" dirty="0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1287450" y="230275"/>
            <a:ext cx="6801900" cy="6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b="1">
                <a:solidFill>
                  <a:srgbClr val="FF9900"/>
                </a:solidFill>
                <a:latin typeface="Average"/>
                <a:ea typeface="Average"/>
                <a:cs typeface="Average"/>
                <a:sym typeface="Average"/>
              </a:rPr>
              <a:t>TRANSPORTATION</a:t>
            </a:r>
            <a:endParaRPr sz="3300" b="1">
              <a:solidFill>
                <a:srgbClr val="FF9900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480775" y="2908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Agenda</a:t>
            </a:r>
            <a:endParaRPr>
              <a:solidFill>
                <a:srgbClr val="FF9900"/>
              </a:solidFill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3550" y="1130525"/>
            <a:ext cx="5926601" cy="36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230638" y="89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Overview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1"/>
          </p:nvPr>
        </p:nvSpPr>
        <p:spPr>
          <a:xfrm>
            <a:off x="311700" y="5960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Maharashtra, India. 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rgbClr val="FFFF00"/>
                </a:solidFill>
              </a:rPr>
              <a:t>Table II</a:t>
            </a:r>
            <a:r>
              <a:rPr lang="en">
                <a:solidFill>
                  <a:schemeClr val="dk1"/>
                </a:solidFill>
              </a:rPr>
              <a:t> below shows the different cities in Maharashtra with their LSI/MSI and SO₂.</a:t>
            </a:r>
            <a:endParaRPr>
              <a:solidFill>
                <a:schemeClr val="dk1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LSI/MSI are the number of large/medium-scale industries within that specific city.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rgbClr val="FF0000"/>
                </a:solidFill>
              </a:rPr>
              <a:t>Oil refineries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FF0000"/>
                </a:solidFill>
              </a:rPr>
              <a:t>power plants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rgbClr val="00FF00"/>
                </a:solidFill>
              </a:rPr>
              <a:t>food processing factories</a:t>
            </a:r>
            <a:endParaRPr>
              <a:solidFill>
                <a:srgbClr val="00FF00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SO₂ (Sulfur Dioxide)is the gas produced by the burning of fossil fuels containing sulfur compounds.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Vehicle emissions, smelting, and burning of fossil fuels (coal, oil, gas)</a:t>
            </a:r>
            <a:endParaRPr>
              <a:solidFill>
                <a:schemeClr val="dk1"/>
              </a:solidFill>
            </a:endParaRPr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Damages plants, leads to respiratory illnesses (like coughing, shortness of breath).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l="27687" t="37204" r="27691" b="43029"/>
          <a:stretch/>
        </p:blipFill>
        <p:spPr>
          <a:xfrm>
            <a:off x="1283725" y="3260875"/>
            <a:ext cx="6414451" cy="1775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Why These Classifications Matter in Air Pollution</a:t>
            </a:r>
            <a:endParaRPr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rgbClr val="FFFF00"/>
                </a:solidFill>
              </a:rPr>
              <a:t>Emission Regulations:</a:t>
            </a:r>
            <a:r>
              <a:rPr lang="en">
                <a:solidFill>
                  <a:schemeClr val="dk1"/>
                </a:solidFill>
              </a:rPr>
              <a:t> It helps authorities create specific rules and guidelines to control pollution. </a:t>
            </a:r>
            <a:r>
              <a:rPr lang="en">
                <a:solidFill>
                  <a:srgbClr val="00FF00"/>
                </a:solidFill>
              </a:rPr>
              <a:t>Customized Regulations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rgbClr val="FFFF00"/>
                </a:solidFill>
              </a:rPr>
              <a:t>Environmental Impact Assessments:</a:t>
            </a:r>
            <a:r>
              <a:rPr lang="en">
                <a:solidFill>
                  <a:schemeClr val="dk1"/>
                </a:solidFill>
              </a:rPr>
              <a:t> Aids in evaluating their environmental impact and planning mitigation strategies.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rgbClr val="FFFF00"/>
                </a:solidFill>
              </a:rPr>
              <a:t>Targeted Monitoring:</a:t>
            </a:r>
            <a:r>
              <a:rPr lang="en">
                <a:solidFill>
                  <a:srgbClr val="FFFF00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LSIs may require stricter monitoring due to their higher emissions, while MSIs may focus on improving efficiency and adopting cleaner technologies.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>
            <a:spLocks noGrp="1"/>
          </p:cNvSpPr>
          <p:nvPr>
            <p:ph type="title"/>
          </p:nvPr>
        </p:nvSpPr>
        <p:spPr>
          <a:xfrm>
            <a:off x="311700" y="204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Pune City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rgbClr val="FFFF00"/>
                </a:solidFill>
              </a:rPr>
              <a:t>Table III</a:t>
            </a:r>
            <a:r>
              <a:rPr lang="en">
                <a:solidFill>
                  <a:schemeClr val="dk1"/>
                </a:solidFill>
              </a:rPr>
              <a:t> displays the vehicles and their total pollution load in tonnes/day in Pune City.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Private vehicles are Cars and 2 Wheelers. </a:t>
            </a:r>
            <a:r>
              <a:rPr lang="en" b="1">
                <a:solidFill>
                  <a:srgbClr val="FF0000"/>
                </a:solidFill>
              </a:rPr>
              <a:t>Total 46% Pollution Load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Commercial vehicles are Rickshaws, Trucks, Taxis, and Buses. </a:t>
            </a:r>
            <a:r>
              <a:rPr lang="en" b="1">
                <a:solidFill>
                  <a:srgbClr val="FF0000"/>
                </a:solidFill>
              </a:rPr>
              <a:t>Total 54% Pollution Load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l="27501" t="33575" r="26347" b="39648"/>
          <a:stretch/>
        </p:blipFill>
        <p:spPr>
          <a:xfrm>
            <a:off x="1361624" y="2683550"/>
            <a:ext cx="6294298" cy="228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Pimpri Chinchwad Municipal Corporation (PCMC) 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u="sng">
                <a:solidFill>
                  <a:srgbClr val="FFFF00"/>
                </a:solidFill>
              </a:rPr>
              <a:t>Table IV</a:t>
            </a:r>
            <a:r>
              <a:rPr lang="en">
                <a:solidFill>
                  <a:schemeClr val="dk1"/>
                </a:solidFill>
              </a:rPr>
              <a:t> displays the vehicles and their total pollution load in tonnes/day in PCMC.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Private vehicles are Cars and 2 Wheelers. </a:t>
            </a:r>
            <a:r>
              <a:rPr lang="en" b="1">
                <a:solidFill>
                  <a:srgbClr val="FF0000"/>
                </a:solidFill>
              </a:rPr>
              <a:t>Total 36%% Pollution Load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Commercial vehicles are Rickshaws, Trucks, Taxis, and Buses. </a:t>
            </a:r>
            <a:r>
              <a:rPr lang="en" b="1">
                <a:solidFill>
                  <a:srgbClr val="FF0000"/>
                </a:solidFill>
              </a:rPr>
              <a:t>Total 64% Pollution Load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6742" t="41729" r="27261" b="28931"/>
          <a:stretch/>
        </p:blipFill>
        <p:spPr>
          <a:xfrm>
            <a:off x="1765175" y="2704200"/>
            <a:ext cx="5613648" cy="223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2303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Vehicle Registration Data (2023): Maharashtra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116300" y="937775"/>
            <a:ext cx="4866000" cy="38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766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●"/>
            </a:pPr>
            <a:r>
              <a:rPr lang="en" sz="1560">
                <a:solidFill>
                  <a:schemeClr val="dk1"/>
                </a:solidFill>
              </a:rPr>
              <a:t>In 2023, Maharashtra registered a total of </a:t>
            </a:r>
            <a:r>
              <a:rPr lang="en" sz="1560" b="1">
                <a:solidFill>
                  <a:srgbClr val="FFFF00"/>
                </a:solidFill>
              </a:rPr>
              <a:t>2.3 million vehicles</a:t>
            </a:r>
            <a:r>
              <a:rPr lang="en" sz="1560">
                <a:solidFill>
                  <a:srgbClr val="FFFF00"/>
                </a:solidFill>
              </a:rPr>
              <a:t>,</a:t>
            </a:r>
            <a:r>
              <a:rPr lang="en" sz="1560">
                <a:solidFill>
                  <a:schemeClr val="dk1"/>
                </a:solidFill>
              </a:rPr>
              <a:t> with a staggering </a:t>
            </a:r>
            <a:r>
              <a:rPr lang="en" sz="1560" b="1">
                <a:solidFill>
                  <a:srgbClr val="FF0000"/>
                </a:solidFill>
              </a:rPr>
              <a:t>9:1 ratio</a:t>
            </a:r>
            <a:r>
              <a:rPr lang="en" sz="1560">
                <a:solidFill>
                  <a:schemeClr val="dk1"/>
                </a:solidFill>
              </a:rPr>
              <a:t> of private to commercial vehicles.</a:t>
            </a:r>
            <a:endParaRPr sz="1560">
              <a:solidFill>
                <a:schemeClr val="dk1"/>
              </a:solidFill>
            </a:endParaRPr>
          </a:p>
          <a:p>
            <a:pPr marL="457200" lvl="0" indent="-3276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●"/>
            </a:pPr>
            <a:r>
              <a:rPr lang="en" sz="1560">
                <a:solidFill>
                  <a:schemeClr val="dk1"/>
                </a:solidFill>
              </a:rPr>
              <a:t>Around </a:t>
            </a:r>
            <a:r>
              <a:rPr lang="en" sz="1560" b="1">
                <a:solidFill>
                  <a:srgbClr val="FF0000"/>
                </a:solidFill>
              </a:rPr>
              <a:t>2.05 million</a:t>
            </a:r>
            <a:r>
              <a:rPr lang="en" sz="1560">
                <a:solidFill>
                  <a:schemeClr val="dk1"/>
                </a:solidFill>
              </a:rPr>
              <a:t> were </a:t>
            </a:r>
            <a:r>
              <a:rPr lang="en" sz="1560">
                <a:solidFill>
                  <a:srgbClr val="E06666"/>
                </a:solidFill>
              </a:rPr>
              <a:t>private vehicles</a:t>
            </a:r>
            <a:r>
              <a:rPr lang="en" sz="1560">
                <a:solidFill>
                  <a:schemeClr val="dk1"/>
                </a:solidFill>
              </a:rPr>
              <a:t>, while only </a:t>
            </a:r>
            <a:r>
              <a:rPr lang="en" sz="1560" b="1">
                <a:solidFill>
                  <a:srgbClr val="FF0000"/>
                </a:solidFill>
              </a:rPr>
              <a:t>0.245 million</a:t>
            </a:r>
            <a:r>
              <a:rPr lang="en" sz="1560">
                <a:solidFill>
                  <a:srgbClr val="FF0000"/>
                </a:solidFill>
              </a:rPr>
              <a:t> </a:t>
            </a:r>
            <a:r>
              <a:rPr lang="en" sz="1560" b="1">
                <a:solidFill>
                  <a:srgbClr val="FF0000"/>
                </a:solidFill>
              </a:rPr>
              <a:t>(245,000)</a:t>
            </a:r>
            <a:r>
              <a:rPr lang="en" sz="1560">
                <a:solidFill>
                  <a:schemeClr val="dk1"/>
                </a:solidFill>
              </a:rPr>
              <a:t> were </a:t>
            </a:r>
            <a:r>
              <a:rPr lang="en" sz="1560">
                <a:solidFill>
                  <a:srgbClr val="E06666"/>
                </a:solidFill>
              </a:rPr>
              <a:t>commercial vehicles</a:t>
            </a:r>
            <a:r>
              <a:rPr lang="en" sz="1560">
                <a:solidFill>
                  <a:schemeClr val="dk1"/>
                </a:solidFill>
              </a:rPr>
              <a:t>, including taxis, buses, and heavy trucks.</a:t>
            </a:r>
            <a:endParaRPr sz="1560">
              <a:solidFill>
                <a:schemeClr val="dk1"/>
              </a:solidFill>
            </a:endParaRPr>
          </a:p>
          <a:p>
            <a:pPr marL="457200" lvl="0" indent="-3276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●"/>
            </a:pPr>
            <a:r>
              <a:rPr lang="en" sz="1560">
                <a:solidFill>
                  <a:schemeClr val="dk1"/>
                </a:solidFill>
              </a:rPr>
              <a:t>This dominance of private vehicles is contributing to </a:t>
            </a:r>
            <a:r>
              <a:rPr lang="en" sz="1560" b="1">
                <a:solidFill>
                  <a:schemeClr val="dk1"/>
                </a:solidFill>
              </a:rPr>
              <a:t>serious transportation issues</a:t>
            </a:r>
            <a:r>
              <a:rPr lang="en" sz="1560">
                <a:solidFill>
                  <a:schemeClr val="dk1"/>
                </a:solidFill>
              </a:rPr>
              <a:t> such as rising </a:t>
            </a:r>
            <a:r>
              <a:rPr lang="en" sz="1560" b="1">
                <a:solidFill>
                  <a:schemeClr val="dk1"/>
                </a:solidFill>
              </a:rPr>
              <a:t>traffic congestion</a:t>
            </a:r>
            <a:r>
              <a:rPr lang="en" sz="1560">
                <a:solidFill>
                  <a:schemeClr val="dk1"/>
                </a:solidFill>
              </a:rPr>
              <a:t>, worsening </a:t>
            </a:r>
            <a:r>
              <a:rPr lang="en" sz="1560" b="1">
                <a:solidFill>
                  <a:schemeClr val="dk1"/>
                </a:solidFill>
              </a:rPr>
              <a:t>air pollution</a:t>
            </a:r>
            <a:r>
              <a:rPr lang="en" sz="1560">
                <a:solidFill>
                  <a:schemeClr val="dk1"/>
                </a:solidFill>
              </a:rPr>
              <a:t>, and increased pressure on </a:t>
            </a:r>
            <a:r>
              <a:rPr lang="en" sz="1560" b="1">
                <a:solidFill>
                  <a:schemeClr val="dk1"/>
                </a:solidFill>
              </a:rPr>
              <a:t>urban infrastructure</a:t>
            </a:r>
            <a:r>
              <a:rPr lang="en" sz="1560">
                <a:solidFill>
                  <a:schemeClr val="dk1"/>
                </a:solidFill>
              </a:rPr>
              <a:t> like parking and roadways.</a:t>
            </a:r>
            <a:endParaRPr sz="1560">
              <a:solidFill>
                <a:schemeClr val="dk1"/>
              </a:solidFill>
            </a:endParaRPr>
          </a:p>
          <a:p>
            <a:pPr marL="457200" lvl="0" indent="-32766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●"/>
            </a:pPr>
            <a:r>
              <a:rPr lang="en" sz="1560">
                <a:solidFill>
                  <a:schemeClr val="dk1"/>
                </a:solidFill>
              </a:rPr>
              <a:t>These challenges highlight the need for </a:t>
            </a:r>
            <a:r>
              <a:rPr lang="en" sz="1560" b="1">
                <a:solidFill>
                  <a:schemeClr val="dk1"/>
                </a:solidFill>
              </a:rPr>
              <a:t>sustainable transport strategies</a:t>
            </a:r>
            <a:r>
              <a:rPr lang="en" sz="1560">
                <a:solidFill>
                  <a:schemeClr val="dk1"/>
                </a:solidFill>
              </a:rPr>
              <a:t>, including improving public transit and promoting shared or commercial transport options.</a:t>
            </a:r>
            <a:endParaRPr sz="156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endParaRPr sz="1560"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325" y="1189700"/>
            <a:ext cx="3723200" cy="35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650" y="124400"/>
            <a:ext cx="3554649" cy="159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8083" y="124401"/>
            <a:ext cx="4111640" cy="150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0200" y="1860376"/>
            <a:ext cx="4419336" cy="155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925" y="3592775"/>
            <a:ext cx="7779804" cy="144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/>
          <p:cNvPicPr preferRelativeResize="0"/>
          <p:nvPr/>
        </p:nvPicPr>
        <p:blipFill rotWithShape="1">
          <a:blip r:embed="rId3">
            <a:alphaModFix/>
          </a:blip>
          <a:srcRect l="2120" r="-2120" b="-4166"/>
          <a:stretch/>
        </p:blipFill>
        <p:spPr>
          <a:xfrm>
            <a:off x="217950" y="804050"/>
            <a:ext cx="5874677" cy="4220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336450" y="62550"/>
            <a:ext cx="8471100" cy="5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b="1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Line Chart of Vehicle Population Trends from 2004 to 2015</a:t>
            </a:r>
            <a:endParaRPr sz="2500" b="1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6283975" y="804050"/>
            <a:ext cx="2598300" cy="3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This line chart shows a steady increase in both private and commercial vehicle populations over time, with private vehicles experiencing significantly faster growth. 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</a:t>
            </a: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This reflects rising consumer preference for personal vehicles and highlights infrastructure challenges.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/>
        </p:nvSpPr>
        <p:spPr>
          <a:xfrm>
            <a:off x="282650" y="154925"/>
            <a:ext cx="8453100" cy="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Graph: Vehicle Population by Region</a:t>
            </a:r>
            <a:endParaRPr sz="2200" b="1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282650" y="872400"/>
            <a:ext cx="2658600" cy="3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This graph contrasts private and commercial vehicle populations by region. 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Private vehicles dominate across all regions, with Pune having the highest numbers, while commercial vehicles remain relatively low, suggesting imbalanced usage trends.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3300" y="736325"/>
            <a:ext cx="6150398" cy="415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3"/>
          <p:cNvPicPr preferRelativeResize="0"/>
          <p:nvPr/>
        </p:nvPicPr>
        <p:blipFill rotWithShape="1">
          <a:blip r:embed="rId3">
            <a:alphaModFix/>
          </a:blip>
          <a:srcRect r="4150"/>
          <a:stretch/>
        </p:blipFill>
        <p:spPr>
          <a:xfrm>
            <a:off x="3292500" y="345225"/>
            <a:ext cx="5740524" cy="4453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146550" y="157000"/>
            <a:ext cx="2941200" cy="4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The </a:t>
            </a:r>
            <a:r>
              <a:rPr lang="en" sz="1800" b="1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Heatmap</a:t>
            </a: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 highlights the correlations between different vehicle categories in Maharashtra, showing strong positive relationships between similar types like motorcycles and scooters, while private and commercial vehicles exhibit weaker correlations.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It emphasizes disparities in vehicle ownership, particularly through the "Private to Commercial Ratio.”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075" y="1004825"/>
            <a:ext cx="6171475" cy="389375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6468625" y="1120025"/>
            <a:ext cx="2606400" cy="3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Pune, Greater Mumbai, and Thane dominate private vehicle demand, reflecting their urban density and economic activity. 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FEFEF"/>
                </a:solidFill>
                <a:latin typeface="Average"/>
                <a:ea typeface="Average"/>
                <a:cs typeface="Average"/>
                <a:sym typeface="Average"/>
              </a:rPr>
              <a:t>- The high vehicle numbers underscore the need for better traffic and infrastructure planning.</a:t>
            </a:r>
            <a:endParaRPr sz="1800">
              <a:solidFill>
                <a:srgbClr val="EFEFEF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324475" y="198875"/>
            <a:ext cx="6897900" cy="65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Graph: Top 10 Regions by Private Vehicle Demand</a:t>
            </a:r>
            <a:endParaRPr sz="2200" b="1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/>
        </p:nvSpPr>
        <p:spPr>
          <a:xfrm>
            <a:off x="230275" y="261675"/>
            <a:ext cx="79551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Graph: Top 5 Regions with Private Vehicle Growth</a:t>
            </a:r>
            <a:endParaRPr sz="2200" b="1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44" name="Google Shape;144;p25"/>
          <p:cNvSpPr txBox="1"/>
          <p:nvPr/>
        </p:nvSpPr>
        <p:spPr>
          <a:xfrm>
            <a:off x="5600325" y="1161825"/>
            <a:ext cx="3506100" cy="3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Average"/>
                <a:ea typeface="Average"/>
                <a:cs typeface="Average"/>
                <a:sym typeface="Average"/>
              </a:rPr>
              <a:t>The chart highlights varying private vehicle growth rates. Pune leads with over 400%, followed by Nashik at 300%, while regions like Nagpur (R) and Nagpur (U) show comparatively lower growth.</a:t>
            </a:r>
            <a:endParaRPr>
              <a:solidFill>
                <a:srgbClr val="F3F3F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Average"/>
                <a:ea typeface="Average"/>
                <a:cs typeface="Average"/>
                <a:sym typeface="Average"/>
              </a:rPr>
              <a:t>Pune’s remarkable rise reflects economic vibrancy, while Nagpur’s modest figures suggest limited demand. The chart’s clarity effectively illustrates these regional trends.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None/>
            </a:pPr>
            <a:endParaRPr sz="1500">
              <a:solidFill>
                <a:srgbClr val="F3F3F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70750"/>
            <a:ext cx="5204999" cy="305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/>
        </p:nvSpPr>
        <p:spPr>
          <a:xfrm>
            <a:off x="261675" y="219800"/>
            <a:ext cx="8363100" cy="85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accent5"/>
                </a:solidFill>
                <a:latin typeface="Average"/>
                <a:ea typeface="Average"/>
                <a:cs typeface="Average"/>
                <a:sym typeface="Average"/>
              </a:rPr>
              <a:t>Graph: Top 5 Regions with Commercial Vehicle Growth</a:t>
            </a:r>
            <a:endParaRPr sz="2200" b="1">
              <a:solidFill>
                <a:schemeClr val="accent5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5920650" y="1156650"/>
            <a:ext cx="3141300" cy="37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Average"/>
                <a:ea typeface="Average"/>
                <a:cs typeface="Average"/>
                <a:sym typeface="Average"/>
              </a:rPr>
              <a:t>The chart unveils notable disparities in commercial vehicle growth among five regions. Nashik soars with an impressive 250% increase, trailed by Pune at just under 200%, while Greater Mumbai, Nagpur (R), and Thane exhibit comparatively modest figures.</a:t>
            </a:r>
            <a:endParaRPr>
              <a:solidFill>
                <a:srgbClr val="F3F3F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3F3F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  <a:latin typeface="Average"/>
                <a:ea typeface="Average"/>
                <a:cs typeface="Average"/>
                <a:sym typeface="Average"/>
              </a:rPr>
              <a:t>Nashik's exceptional rise may be attributed to industrial advancements or progressive policies, whereas subdued growth in Nagpur and Thane reflects uneven regional progress. The chart’s elegant presentation succinctly captures these variations</a:t>
            </a:r>
            <a:r>
              <a:rPr lang="en">
                <a:latin typeface="Average"/>
                <a:ea typeface="Average"/>
                <a:cs typeface="Average"/>
                <a:sym typeface="Average"/>
              </a:rPr>
              <a:t>.</a:t>
            </a:r>
            <a:endParaRPr>
              <a:latin typeface="Average"/>
              <a:ea typeface="Average"/>
              <a:cs typeface="Average"/>
              <a:sym typeface="Averag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3F3F3"/>
              </a:solidFill>
              <a:highlight>
                <a:schemeClr val="accent5"/>
              </a:highlight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50" y="1156650"/>
            <a:ext cx="5518675" cy="3583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>
          <a:blip r:embed="rId3">
            <a:alphaModFix amt="71000"/>
          </a:blip>
          <a:stretch>
            <a:fillRect/>
          </a:stretch>
        </p:blipFill>
        <p:spPr>
          <a:xfrm>
            <a:off x="0" y="1203700"/>
            <a:ext cx="9143999" cy="3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xfrm>
            <a:off x="42685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78D152"/>
                </a:solidFill>
                <a:latin typeface="Average"/>
                <a:ea typeface="Average"/>
                <a:cs typeface="Average"/>
                <a:sym typeface="Average"/>
              </a:rPr>
              <a:t>What’s The Solution?</a:t>
            </a:r>
            <a:endParaRPr b="1">
              <a:solidFill>
                <a:srgbClr val="78D152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1"/>
          </p:nvPr>
        </p:nvSpPr>
        <p:spPr>
          <a:xfrm>
            <a:off x="269825" y="1423525"/>
            <a:ext cx="8520600" cy="33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FF"/>
                </a:solidFill>
              </a:rPr>
              <a:t>Created a Python program and utilized Google Colab to generate graphs and identify correlations, enabling the analysis of vehicle data and classification of vehicles into private and commercial categories.</a:t>
            </a:r>
            <a:endParaRPr dirty="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FF"/>
                </a:solidFill>
              </a:rPr>
              <a:t>Remove missing data, using Python code, in order to analyze trends accurately.</a:t>
            </a:r>
            <a:endParaRPr dirty="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FF"/>
                </a:solidFill>
              </a:rPr>
              <a:t>More public transportation</a:t>
            </a:r>
            <a:endParaRPr dirty="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FF"/>
                </a:solidFill>
              </a:rPr>
              <a:t>EVs</a:t>
            </a:r>
            <a:endParaRPr dirty="0">
              <a:solidFill>
                <a:srgbClr val="FFFFF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" dirty="0">
                <a:solidFill>
                  <a:srgbClr val="FFFFFF"/>
                </a:solidFill>
              </a:rPr>
              <a:t>Green infrastructure</a:t>
            </a:r>
            <a:endParaRPr dirty="0">
              <a:solidFill>
                <a:srgbClr val="FFFF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Solution 1</a:t>
            </a:r>
            <a:r>
              <a:rPr lang="en"/>
              <a:t> : </a:t>
            </a:r>
            <a:r>
              <a:rPr lang="en">
                <a:solidFill>
                  <a:srgbClr val="78D152"/>
                </a:solidFill>
              </a:rPr>
              <a:t>Upgrading Public Transportation</a:t>
            </a:r>
            <a:endParaRPr>
              <a:solidFill>
                <a:srgbClr val="78D152"/>
              </a:solidFill>
            </a:endParaRPr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1"/>
          </p:nvPr>
        </p:nvSpPr>
        <p:spPr>
          <a:xfrm>
            <a:off x="376800" y="1017725"/>
            <a:ext cx="8288100" cy="43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Arial"/>
              <a:buChar char="●"/>
            </a:pPr>
            <a:r>
              <a:rPr lang="en" b="1">
                <a:solidFill>
                  <a:srgbClr val="FFFF00"/>
                </a:solidFill>
              </a:rPr>
              <a:t>Expand Bus Networks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Increase bus fleet size to meet the recommended benchmark of 40-60 buses per 100,000 residents. Focus on cities like Pune and Nagpur to enhance first and last-mile metro connectivity.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Arial"/>
              <a:buChar char="●"/>
            </a:pPr>
            <a:r>
              <a:rPr lang="en" b="1">
                <a:solidFill>
                  <a:srgbClr val="FFFF00"/>
                </a:solidFill>
              </a:rPr>
              <a:t>Safety and Accessibility</a:t>
            </a:r>
            <a:r>
              <a:rPr lang="en">
                <a:solidFill>
                  <a:srgbClr val="FFFF00"/>
                </a:solidFill>
              </a:rPr>
              <a:t>: </a:t>
            </a:r>
            <a:r>
              <a:rPr lang="en">
                <a:solidFill>
                  <a:srgbClr val="EFEFEF"/>
                </a:solidFill>
              </a:rPr>
              <a:t>Prioritize safe, reliable public transport options, especially for women, through measures like better lighting, CCTV cameras, and secure stops.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Arial"/>
              <a:buChar char="●"/>
            </a:pPr>
            <a:r>
              <a:rPr lang="en" b="1">
                <a:solidFill>
                  <a:srgbClr val="FFFF00"/>
                </a:solidFill>
              </a:rPr>
              <a:t>Sustained Government Funding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Implement a viability gap funding scheme to support bus services across Maharashtra.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Font typeface="Arial"/>
              <a:buChar char="●"/>
            </a:pPr>
            <a:r>
              <a:rPr lang="en" b="1">
                <a:solidFill>
                  <a:srgbClr val="FFFF00"/>
                </a:solidFill>
              </a:rPr>
              <a:t>Integrated Transit Systems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Develop seamless connections between metro, buses, and other transit options to encourage greater public transport usage.</a:t>
            </a:r>
            <a:endParaRPr>
              <a:solidFill>
                <a:srgbClr val="EFEFEF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Arial"/>
              <a:buChar char="●"/>
            </a:pPr>
            <a:r>
              <a:rPr lang="en">
                <a:solidFill>
                  <a:schemeClr val="accent4"/>
                </a:solidFill>
              </a:rPr>
              <a:t>Example: </a:t>
            </a:r>
            <a:r>
              <a:rPr lang="en">
                <a:solidFill>
                  <a:srgbClr val="EFEFEF"/>
                </a:solidFill>
              </a:rPr>
              <a:t>Let’s say a bus can carry 40 passengers at once. These 40 passengers can reduce the emissions of 40 private vehicles by using one public vehicle instead.</a:t>
            </a:r>
            <a:endParaRPr>
              <a:solidFill>
                <a:srgbClr val="EFEFEF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>
            <a:spLocks noGrp="1"/>
          </p:cNvSpPr>
          <p:nvPr>
            <p:ph type="title"/>
          </p:nvPr>
        </p:nvSpPr>
        <p:spPr>
          <a:xfrm>
            <a:off x="355850" y="1412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Solution 2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: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rgbClr val="78D152"/>
                </a:solidFill>
              </a:rPr>
              <a:t>Electric Vehicles</a:t>
            </a:r>
            <a:endParaRPr>
              <a:solidFill>
                <a:srgbClr val="78D152"/>
              </a:solidFill>
            </a:endParaRPr>
          </a:p>
        </p:txBody>
      </p:sp>
      <p:sp>
        <p:nvSpPr>
          <p:cNvPr id="171" name="Google Shape;171;p29"/>
          <p:cNvSpPr txBox="1">
            <a:spLocks noGrp="1"/>
          </p:cNvSpPr>
          <p:nvPr>
            <p:ph type="body" idx="1"/>
          </p:nvPr>
        </p:nvSpPr>
        <p:spPr>
          <a:xfrm>
            <a:off x="240725" y="793000"/>
            <a:ext cx="8415600" cy="38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Policy Support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Leverage the Maharashtra EV Policy 2021 to accelerate EV adoption through subsidies, tax exemptions, and buyback agreements.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Infrastructure Development</a:t>
            </a:r>
            <a:r>
              <a:rPr lang="en">
                <a:solidFill>
                  <a:srgbClr val="FFFF00"/>
                </a:solidFill>
              </a:rPr>
              <a:t>: </a:t>
            </a:r>
            <a:r>
              <a:rPr lang="en">
                <a:solidFill>
                  <a:srgbClr val="EFEFEF"/>
                </a:solidFill>
              </a:rPr>
              <a:t>Expand public charging stations across urban areas and highways, supported by the allocated $124 million investment.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Commercial EV Transition</a:t>
            </a:r>
            <a:r>
              <a:rPr lang="en">
                <a:solidFill>
                  <a:srgbClr val="FFFF00"/>
                </a:solidFill>
              </a:rPr>
              <a:t>: </a:t>
            </a:r>
            <a:r>
              <a:rPr lang="en">
                <a:solidFill>
                  <a:srgbClr val="EFEFEF"/>
                </a:solidFill>
              </a:rPr>
              <a:t>Focus on electrifying auto-rickshaws, taxis, and freight vehicles to reduce emissions and fuel dependency.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Job Creation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Promote EV manufacturing in Maharashtra to establish the state as a leader in the EV sector while generating employment opportunities.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Awareness and Collaboration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Work with manufacturers, service providers, and the public to raise awareness and address barriers like charging access and cost.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>
                <a:solidFill>
                  <a:srgbClr val="EFEFEF"/>
                </a:solidFill>
              </a:rPr>
              <a:t>Environmental Protection Agency states that EVs have the potential to reduce air pollution by eliminating approximately </a:t>
            </a:r>
            <a:r>
              <a:rPr lang="en">
                <a:solidFill>
                  <a:srgbClr val="00FFFF"/>
                </a:solidFill>
              </a:rPr>
              <a:t>246,000</a:t>
            </a:r>
            <a:r>
              <a:rPr lang="en">
                <a:solidFill>
                  <a:srgbClr val="EFEFEF"/>
                </a:solidFill>
              </a:rPr>
              <a:t> tons of fine particles and over </a:t>
            </a:r>
            <a:r>
              <a:rPr lang="en">
                <a:solidFill>
                  <a:srgbClr val="00FFFF"/>
                </a:solidFill>
              </a:rPr>
              <a:t>1 million</a:t>
            </a:r>
            <a:r>
              <a:rPr lang="en">
                <a:solidFill>
                  <a:srgbClr val="EFEFEF"/>
                </a:solidFill>
              </a:rPr>
              <a:t> tons of nitrogen oxides cumulatively by 2055.</a:t>
            </a:r>
            <a:endParaRPr>
              <a:solidFill>
                <a:srgbClr val="EFEFEF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EFEFE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Solution 3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/>
              <a:t>:</a:t>
            </a:r>
            <a:r>
              <a:rPr lang="en">
                <a:solidFill>
                  <a:schemeClr val="accent5"/>
                </a:solidFill>
              </a:rPr>
              <a:t> </a:t>
            </a:r>
            <a:r>
              <a:rPr lang="en">
                <a:solidFill>
                  <a:srgbClr val="78D152"/>
                </a:solidFill>
              </a:rPr>
              <a:t>Green Infrastructure </a:t>
            </a:r>
            <a:endParaRPr>
              <a:solidFill>
                <a:srgbClr val="78D152"/>
              </a:solidFill>
            </a:endParaRPr>
          </a:p>
        </p:txBody>
      </p:sp>
      <p:sp>
        <p:nvSpPr>
          <p:cNvPr id="177" name="Google Shape;177;p30"/>
          <p:cNvSpPr txBox="1">
            <a:spLocks noGrp="1"/>
          </p:cNvSpPr>
          <p:nvPr>
            <p:ph type="body" idx="1"/>
          </p:nvPr>
        </p:nvSpPr>
        <p:spPr>
          <a:xfrm>
            <a:off x="261375" y="938700"/>
            <a:ext cx="8520600" cy="41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Eco-Friendly Urban Design</a:t>
            </a:r>
            <a:r>
              <a:rPr lang="en">
                <a:solidFill>
                  <a:srgbClr val="FFFF00"/>
                </a:solidFill>
              </a:rPr>
              <a:t>: </a:t>
            </a:r>
            <a:r>
              <a:rPr lang="en">
                <a:solidFill>
                  <a:srgbClr val="EFEFEF"/>
                </a:solidFill>
              </a:rPr>
              <a:t>Encourage the development of roads with dedicated pedestrian walkways and cycling lanes to promote sustainable mobility.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Green Data Centres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Leverage the state's Green Integrated Data Centre Parks initiative to integrate renewable energy sources and eco-friendly technologies in urban planning.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Low-Emission Zones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Establish low-emission zones in urban areas to reduce vehicular pollution and promote clean transportation options.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Urban Green Spaces</a:t>
            </a:r>
            <a:r>
              <a:rPr lang="en">
                <a:solidFill>
                  <a:srgbClr val="FFFF00"/>
                </a:solidFill>
              </a:rPr>
              <a:t>:</a:t>
            </a:r>
            <a:r>
              <a:rPr lang="en">
                <a:solidFill>
                  <a:srgbClr val="EFEFEF"/>
                </a:solidFill>
              </a:rPr>
              <a:t> Develop green belts and parks within cities to improve air quality and provide spaces for non-motorized transport pathways.</a:t>
            </a:r>
            <a:endParaRPr>
              <a:solidFill>
                <a:srgbClr val="EFEFEF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800"/>
              <a:buChar char="●"/>
            </a:pPr>
            <a:r>
              <a:rPr lang="en" b="1">
                <a:solidFill>
                  <a:srgbClr val="FFFF00"/>
                </a:solidFill>
              </a:rPr>
              <a:t>Smart City Integration</a:t>
            </a:r>
            <a:r>
              <a:rPr lang="en">
                <a:solidFill>
                  <a:srgbClr val="FFFF00"/>
                </a:solidFill>
              </a:rPr>
              <a:t>: </a:t>
            </a:r>
            <a:r>
              <a:rPr lang="en">
                <a:solidFill>
                  <a:srgbClr val="EFEFEF"/>
                </a:solidFill>
              </a:rPr>
              <a:t>Align green infrastructure initiatives with Maharashtra's broader digital and smart city development goals.</a:t>
            </a:r>
            <a:endParaRPr>
              <a:solidFill>
                <a:srgbClr val="EFEFE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>
            <a:spLocks noGrp="1"/>
          </p:cNvSpPr>
          <p:nvPr>
            <p:ph type="title"/>
          </p:nvPr>
        </p:nvSpPr>
        <p:spPr>
          <a:xfrm>
            <a:off x="345400" y="639355"/>
            <a:ext cx="5112600" cy="8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77">
                <a:solidFill>
                  <a:schemeClr val="accent5"/>
                </a:solidFill>
              </a:rPr>
              <a:t>What are the most challenging parts?</a:t>
            </a:r>
            <a:endParaRPr sz="2777"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1"/>
          <p:cNvSpPr txBox="1">
            <a:spLocks noGrp="1"/>
          </p:cNvSpPr>
          <p:nvPr>
            <p:ph type="body" idx="1"/>
          </p:nvPr>
        </p:nvSpPr>
        <p:spPr>
          <a:xfrm>
            <a:off x="276100" y="1670000"/>
            <a:ext cx="82236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</a:pPr>
            <a:r>
              <a:rPr lang="en" sz="1400" b="1">
                <a:solidFill>
                  <a:srgbClr val="FFFF00"/>
                </a:solidFill>
              </a:rPr>
              <a:t>Balancing Growth and Sustainability :</a:t>
            </a:r>
            <a:r>
              <a:rPr lang="en" sz="1400" b="1" i="1">
                <a:solidFill>
                  <a:srgbClr val="EFEFEF"/>
                </a:solidFill>
              </a:rPr>
              <a:t> </a:t>
            </a:r>
            <a:r>
              <a:rPr lang="en" sz="1400">
                <a:solidFill>
                  <a:srgbClr val="EFEFEF"/>
                </a:solidFill>
              </a:rPr>
              <a:t>Achieving economic growth while protecting the environment requires aligning diverse priorities and addressing regional disparities in industrial and pollution impacts.</a:t>
            </a:r>
            <a:br>
              <a:rPr lang="en" sz="1400" b="1">
                <a:solidFill>
                  <a:srgbClr val="EFEFEF"/>
                </a:solidFill>
              </a:rPr>
            </a:br>
            <a:endParaRPr sz="1400" b="1">
              <a:solidFill>
                <a:srgbClr val="EFEFEF"/>
              </a:solidFill>
            </a:endParaRPr>
          </a:p>
          <a:p>
            <a: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</a:pPr>
            <a:r>
              <a:rPr lang="en" sz="1400" b="1">
                <a:solidFill>
                  <a:srgbClr val="FFFF00"/>
                </a:solidFill>
              </a:rPr>
              <a:t>Policy and Infrastructure Development :</a:t>
            </a:r>
            <a:r>
              <a:rPr lang="en" sz="1400">
                <a:solidFill>
                  <a:srgbClr val="FFFF00"/>
                </a:solidFill>
              </a:rPr>
              <a:t> </a:t>
            </a:r>
            <a:r>
              <a:rPr lang="en" sz="1400">
                <a:solidFill>
                  <a:srgbClr val="EFEFEF"/>
                </a:solidFill>
              </a:rPr>
              <a:t>Crafting targeted policies and upgrading public transport systems are hindered by fiscal limitations, urban transport dependency, and uneven regional needs.</a:t>
            </a:r>
            <a:br>
              <a:rPr lang="en" sz="1400">
                <a:solidFill>
                  <a:srgbClr val="EFEFEF"/>
                </a:solidFill>
              </a:rPr>
            </a:br>
            <a:endParaRPr sz="1400">
              <a:solidFill>
                <a:srgbClr val="EFEFEF"/>
              </a:solidFill>
            </a:endParaRPr>
          </a:p>
          <a:p>
            <a: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</a:pPr>
            <a:r>
              <a:rPr lang="en" sz="1400" b="1">
                <a:solidFill>
                  <a:srgbClr val="FFFF00"/>
                </a:solidFill>
              </a:rPr>
              <a:t>Data Accuracy and Integration :</a:t>
            </a:r>
            <a:r>
              <a:rPr lang="en" sz="1400" b="1">
                <a:solidFill>
                  <a:srgbClr val="EFEFEF"/>
                </a:solidFill>
              </a:rPr>
              <a:t> </a:t>
            </a:r>
            <a:r>
              <a:rPr lang="en" sz="1400">
                <a:solidFill>
                  <a:srgbClr val="EFEFEF"/>
                </a:solidFill>
              </a:rPr>
              <a:t>Ensuring reliable analysis is challenging due to data inconsistencies, complex correlations, and the need to synthesize multifaceted datasets.</a:t>
            </a:r>
            <a:br>
              <a:rPr lang="en" sz="1400">
                <a:solidFill>
                  <a:srgbClr val="EFEFEF"/>
                </a:solidFill>
              </a:rPr>
            </a:br>
            <a:endParaRPr sz="1400">
              <a:solidFill>
                <a:srgbClr val="EFEFEF"/>
              </a:solidFill>
            </a:endParaRPr>
          </a:p>
          <a:p>
            <a: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</a:pPr>
            <a:r>
              <a:rPr lang="en" sz="1400" b="1">
                <a:solidFill>
                  <a:srgbClr val="FFFF00"/>
                </a:solidFill>
              </a:rPr>
              <a:t>Promoting EV Adoption : </a:t>
            </a:r>
            <a:r>
              <a:rPr lang="en" sz="1400">
                <a:solidFill>
                  <a:srgbClr val="EFEFEF"/>
                </a:solidFill>
              </a:rPr>
              <a:t>Accelerating the transition to electric vehicles faces high costs, logistical challenges, and resistance from traditional stakeholders.</a:t>
            </a:r>
            <a:br>
              <a:rPr lang="en" sz="1400" b="1">
                <a:solidFill>
                  <a:srgbClr val="EFEFEF"/>
                </a:solidFill>
              </a:rPr>
            </a:br>
            <a:endParaRPr sz="1400" b="1">
              <a:solidFill>
                <a:srgbClr val="EFEFEF"/>
              </a:solidFill>
            </a:endParaRPr>
          </a:p>
          <a:p>
            <a:pPr marL="457200" marR="0" lvl="0" indent="-3175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400"/>
              <a:buChar char="●"/>
            </a:pPr>
            <a:r>
              <a:rPr lang="en" sz="1400" b="1">
                <a:solidFill>
                  <a:srgbClr val="FFFF00"/>
                </a:solidFill>
              </a:rPr>
              <a:t>Sustainable Urban Planning :</a:t>
            </a:r>
            <a:r>
              <a:rPr lang="en" sz="1400" b="1">
                <a:solidFill>
                  <a:srgbClr val="EFEFEF"/>
                </a:solidFill>
              </a:rPr>
              <a:t> </a:t>
            </a:r>
            <a:r>
              <a:rPr lang="en" sz="1400">
                <a:solidFill>
                  <a:srgbClr val="EFEFEF"/>
                </a:solidFill>
              </a:rPr>
              <a:t>Constructing green infrastructure and fostering societal change is constrained by spatial limitations, integration challenges, and entrenched resistance to transformation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400">
              <a:solidFill>
                <a:srgbClr val="EFEFE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endParaRPr sz="1400"/>
          </a:p>
        </p:txBody>
      </p:sp>
      <p:pic>
        <p:nvPicPr>
          <p:cNvPr id="184" name="Google Shape;184;p31"/>
          <p:cNvPicPr preferRelativeResize="0"/>
          <p:nvPr/>
        </p:nvPicPr>
        <p:blipFill rotWithShape="1">
          <a:blip r:embed="rId3">
            <a:alphaModFix/>
          </a:blip>
          <a:srcRect l="6060" t="5490" r="-21507"/>
          <a:stretch/>
        </p:blipFill>
        <p:spPr>
          <a:xfrm>
            <a:off x="5499950" y="0"/>
            <a:ext cx="4527475" cy="1716900"/>
          </a:xfrm>
          <a:prstGeom prst="flowChartOnlineStorag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454075" y="525100"/>
            <a:ext cx="61875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What are the most novel/interesting parts?</a:t>
            </a:r>
            <a:endParaRPr>
              <a:solidFill>
                <a:schemeClr val="accent5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157200" y="1768475"/>
            <a:ext cx="8829600" cy="36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10000"/>
          </a:bodyPr>
          <a:lstStyle/>
          <a:p>
            <a:pPr marL="457200" marR="0" lvl="0" indent="-31607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Char char="●"/>
            </a:pPr>
            <a:r>
              <a:rPr lang="en" sz="2900" b="1">
                <a:solidFill>
                  <a:srgbClr val="FFFF00"/>
                </a:solidFill>
              </a:rPr>
              <a:t>Regional Insights :</a:t>
            </a:r>
            <a:r>
              <a:rPr lang="en" sz="2900" b="1">
                <a:solidFill>
                  <a:srgbClr val="EFEFEF"/>
                </a:solidFill>
              </a:rPr>
              <a:t> </a:t>
            </a:r>
            <a:r>
              <a:rPr lang="en" sz="2900">
                <a:solidFill>
                  <a:srgbClr val="EFEFEF"/>
                </a:solidFill>
              </a:rPr>
              <a:t>Segmentation of vehicle trends and pollution metrics by region highlights Maharashtra-specific challenges like private vehicle dominance and industrial emissions, offering targeted insights into urban and environmental issues.</a:t>
            </a:r>
            <a:br>
              <a:rPr lang="en" sz="2900" b="1">
                <a:solidFill>
                  <a:srgbClr val="EFEFEF"/>
                </a:solidFill>
              </a:rPr>
            </a:br>
            <a:endParaRPr sz="2900" b="1">
              <a:solidFill>
                <a:srgbClr val="EFEFEF"/>
              </a:solidFill>
            </a:endParaRPr>
          </a:p>
          <a:p>
            <a:pPr marL="457200" marR="0" lvl="0" indent="-31607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Char char="●"/>
            </a:pPr>
            <a:r>
              <a:rPr lang="en" sz="2900" b="1">
                <a:solidFill>
                  <a:srgbClr val="FFFF00"/>
                </a:solidFill>
              </a:rPr>
              <a:t>Sustainable Growth Strategies : </a:t>
            </a:r>
            <a:r>
              <a:rPr lang="en" sz="2900">
                <a:solidFill>
                  <a:srgbClr val="EFEFEF"/>
                </a:solidFill>
              </a:rPr>
              <a:t>Proposals integrating public transport expansion, EV adoption, and green infrastructure form a cohesive plan to balance urban growth with environmental preservation.</a:t>
            </a:r>
            <a:br>
              <a:rPr lang="en" sz="2900" b="1">
                <a:solidFill>
                  <a:srgbClr val="EFEFEF"/>
                </a:solidFill>
              </a:rPr>
            </a:br>
            <a:endParaRPr sz="2900" b="1">
              <a:solidFill>
                <a:srgbClr val="EFEFEF"/>
              </a:solidFill>
            </a:endParaRPr>
          </a:p>
          <a:p>
            <a:pPr marL="457200" marR="0" lvl="0" indent="-31607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Char char="●"/>
            </a:pPr>
            <a:r>
              <a:rPr lang="en" sz="2900" b="1">
                <a:solidFill>
                  <a:srgbClr val="FFFF00"/>
                </a:solidFill>
              </a:rPr>
              <a:t>Infrastructure and Transit Connectivity :</a:t>
            </a:r>
            <a:r>
              <a:rPr lang="en" sz="2900">
                <a:solidFill>
                  <a:srgbClr val="FFFF00"/>
                </a:solidFill>
              </a:rPr>
              <a:t> </a:t>
            </a:r>
            <a:r>
              <a:rPr lang="en" sz="2900">
                <a:solidFill>
                  <a:srgbClr val="EFEFEF"/>
                </a:solidFill>
              </a:rPr>
              <a:t>Addressing traffic congestion and inadequate public transit requires smarter urban planning and intermodal systems that seamlessly connect buses, metros, and other transport modes to improve accessibility.</a:t>
            </a:r>
            <a:br>
              <a:rPr lang="en" sz="2900" b="1">
                <a:solidFill>
                  <a:srgbClr val="EFEFEF"/>
                </a:solidFill>
              </a:rPr>
            </a:br>
            <a:endParaRPr sz="2900" b="1">
              <a:solidFill>
                <a:srgbClr val="EFEFEF"/>
              </a:solidFill>
            </a:endParaRPr>
          </a:p>
          <a:p>
            <a:pPr marL="457200" marR="0" lvl="0" indent="-31607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Char char="●"/>
            </a:pPr>
            <a:r>
              <a:rPr lang="en" sz="2900" b="1">
                <a:solidFill>
                  <a:srgbClr val="FFFF00"/>
                </a:solidFill>
              </a:rPr>
              <a:t>Localized and Inclusive Policies :</a:t>
            </a:r>
            <a:r>
              <a:rPr lang="en" sz="2900" b="1">
                <a:solidFill>
                  <a:srgbClr val="EFEFEF"/>
                </a:solidFill>
              </a:rPr>
              <a:t> </a:t>
            </a:r>
            <a:r>
              <a:rPr lang="en" sz="2900">
                <a:solidFill>
                  <a:srgbClr val="EFEFEF"/>
                </a:solidFill>
              </a:rPr>
              <a:t>Tailored emission regulations based on industrial density and a focus on safety for women foster both effective environmental management and inclusive transport solutions.</a:t>
            </a:r>
            <a:br>
              <a:rPr lang="en" sz="2900" b="1">
                <a:solidFill>
                  <a:srgbClr val="EFEFEF"/>
                </a:solidFill>
              </a:rPr>
            </a:br>
            <a:endParaRPr sz="2900" b="1">
              <a:solidFill>
                <a:srgbClr val="EFEFEF"/>
              </a:solidFill>
            </a:endParaRPr>
          </a:p>
          <a:p>
            <a:pPr marL="457200" marR="0" lvl="0" indent="-316071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ct val="100000"/>
              <a:buChar char="●"/>
            </a:pPr>
            <a:r>
              <a:rPr lang="en" sz="2900" b="1">
                <a:solidFill>
                  <a:srgbClr val="FFFF00"/>
                </a:solidFill>
              </a:rPr>
              <a:t>Modern Analytical Tools : </a:t>
            </a:r>
            <a:r>
              <a:rPr lang="en" sz="2900">
                <a:solidFill>
                  <a:srgbClr val="EFEFEF"/>
                </a:solidFill>
              </a:rPr>
              <a:t>Heatmaps, charts, and Python-driven analysis simplify complex data trends, enabling strategic decision-making and actionable insights.</a:t>
            </a:r>
            <a:endParaRPr sz="2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32"/>
          <p:cNvPicPr preferRelativeResize="0"/>
          <p:nvPr/>
        </p:nvPicPr>
        <p:blipFill rotWithShape="1">
          <a:blip r:embed="rId3">
            <a:alphaModFix/>
          </a:blip>
          <a:srcRect l="5356" t="2140" r="5078" b="6402"/>
          <a:stretch/>
        </p:blipFill>
        <p:spPr>
          <a:xfrm>
            <a:off x="6863950" y="252225"/>
            <a:ext cx="1406000" cy="113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0" y="83850"/>
            <a:ext cx="9143999" cy="505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3"/>
          <p:cNvSpPr txBox="1">
            <a:spLocks noGrp="1"/>
          </p:cNvSpPr>
          <p:nvPr>
            <p:ph type="title"/>
          </p:nvPr>
        </p:nvSpPr>
        <p:spPr>
          <a:xfrm>
            <a:off x="311700" y="2656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98" name="Google Shape;198;p33"/>
          <p:cNvSpPr txBox="1">
            <a:spLocks noGrp="1"/>
          </p:cNvSpPr>
          <p:nvPr>
            <p:ph type="body" idx="1"/>
          </p:nvPr>
        </p:nvSpPr>
        <p:spPr>
          <a:xfrm>
            <a:off x="48900" y="838375"/>
            <a:ext cx="9046200" cy="42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AutoNum type="arabicPeriod"/>
            </a:pPr>
            <a:r>
              <a:rPr lang="en" sz="1500" u="sng">
                <a:solidFill>
                  <a:schemeClr val="hlink"/>
                </a:solidFill>
                <a:hlinkClick r:id="rId4"/>
              </a:rPr>
              <a:t>https://www.hindustantimes.com/cities/mumbai-news/more-than-25-lakh-vehicles-registered-in-maharashtra-in-2023-7-91-pc-rise-in-one-year-101704113134907.html</a:t>
            </a:r>
            <a:br>
              <a:rPr lang="en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AutoNum type="arabicPeriod"/>
            </a:pPr>
            <a:r>
              <a:rPr lang="en" sz="1500" u="sng">
                <a:solidFill>
                  <a:schemeClr val="hlink"/>
                </a:solidFill>
                <a:hlinkClick r:id="rId5"/>
              </a:rPr>
              <a:t>https://www.statista.com/statistics/831009/total-number-of-commercial-vehicles-in-maharashtra-india/#:~:text=Services-,About%20Statista,within%20the%20segment%20that%20year.</a:t>
            </a:r>
            <a:br>
              <a:rPr lang="en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AutoNum type="arabicPeriod"/>
            </a:pPr>
            <a:r>
              <a:rPr lang="en" sz="1500" u="sng">
                <a:solidFill>
                  <a:schemeClr val="hlink"/>
                </a:solidFill>
                <a:hlinkClick r:id="rId6"/>
              </a:rPr>
              <a:t>https://citizenmatters.in/maharashtra-elections-cities-mumbai-pune-mobility-public-transport/#:~:text=The%20public%20transport%20deficit,coverage%2C%20or%20lower%20population%20density.</a:t>
            </a:r>
            <a:br>
              <a:rPr lang="en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AutoNum type="arabicPeriod"/>
            </a:pPr>
            <a:r>
              <a:rPr lang="en" sz="1500" u="sng">
                <a:solidFill>
                  <a:schemeClr val="hlink"/>
                </a:solidFill>
                <a:hlinkClick r:id="rId7"/>
              </a:rPr>
              <a:t>https://www.mpcb.gov.in/sites/default/files/miscellaneous-topics/environmental-planning/CHAPTER5.pdf</a:t>
            </a:r>
            <a:br>
              <a:rPr lang="en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AutoNum type="arabicPeriod"/>
            </a:pPr>
            <a:r>
              <a:rPr lang="en" sz="1500" u="sng">
                <a:solidFill>
                  <a:schemeClr val="hlink"/>
                </a:solidFill>
                <a:hlinkClick r:id="rId8"/>
              </a:rPr>
              <a:t>https://www.pranaair.com/in/blog/10-ways-to-reduce-air-pollution/</a:t>
            </a:r>
            <a:br>
              <a:rPr lang="en" sz="1500"/>
            </a:b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500"/>
              <a:buAutoNum type="arabicPeriod"/>
            </a:pPr>
            <a:r>
              <a:rPr lang="en" sz="1500" u="sng">
                <a:solidFill>
                  <a:schemeClr val="hlink"/>
                </a:solidFill>
                <a:hlinkClick r:id="rId9"/>
              </a:rPr>
              <a:t>https://www.edf.org/setting-record-straight-electric-vehicles#:~:text=EVs%20greatly%20reduce%20this%20health,million%20tons%20cumulatively%20by%202055</a:t>
            </a:r>
            <a:r>
              <a:rPr lang="en" sz="1500"/>
              <a:t>.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1709</Words>
  <Application>Microsoft Office PowerPoint</Application>
  <PresentationFormat>On-screen Show (16:9)</PresentationFormat>
  <Paragraphs>99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Oswald</vt:lpstr>
      <vt:lpstr>Arial</vt:lpstr>
      <vt:lpstr>Poppins</vt:lpstr>
      <vt:lpstr>Merriweather</vt:lpstr>
      <vt:lpstr>Average</vt:lpstr>
      <vt:lpstr>Slate</vt:lpstr>
      <vt:lpstr> Vehicle Trends and Infrastructure Planning</vt:lpstr>
      <vt:lpstr>Agenda</vt:lpstr>
      <vt:lpstr>Overview</vt:lpstr>
      <vt:lpstr>Why These Classifications Matter in Air Pollution  </vt:lpstr>
      <vt:lpstr>Pune City</vt:lpstr>
      <vt:lpstr>Pimpri Chinchwad Municipal Corporation (PCMC) </vt:lpstr>
      <vt:lpstr>Vehicle Registration Data (2023): Maharashtra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What’s The Solution?</vt:lpstr>
      <vt:lpstr>Solution 1 : Upgrading Public Transportation</vt:lpstr>
      <vt:lpstr>Solution 2 : Electric Vehicles</vt:lpstr>
      <vt:lpstr>Solution 3 : Green Infrastructure </vt:lpstr>
      <vt:lpstr>What are the most challenging parts? </vt:lpstr>
      <vt:lpstr>What are the most novel/interesting parts?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Vaibhav Magoo</cp:lastModifiedBy>
  <cp:revision>1</cp:revision>
  <dcterms:modified xsi:type="dcterms:W3CDTF">2026-05-20T17:34:17Z</dcterms:modified>
</cp:coreProperties>
</file>